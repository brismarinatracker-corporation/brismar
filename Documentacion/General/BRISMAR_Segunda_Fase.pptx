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1828800" cy="1828800"/>
          </a:xfrm>
          <a:prstGeom prst="ellipse">
            <a:avLst/>
          </a:prstGeom>
          <a:solidFill>
            <a:srgbClr val="14A085">
              <a:alpha val="40000"/>
            </a:srgbClr>
          </a:solidFill>
          <a:ln w="12700">
            <a:solidFill>
              <a:srgbClr val="14A08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657600"/>
            <a:ext cx="1371600" cy="1371600"/>
          </a:xfrm>
          <a:prstGeom prst="ellipse">
            <a:avLst/>
          </a:prstGeom>
          <a:solidFill>
            <a:srgbClr val="0A2342">
              <a:alpha val="60000"/>
            </a:srgbClr>
          </a:solidFill>
          <a:ln w="12700">
            <a:solidFill>
              <a:srgbClr val="0A2342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137160" y="109728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0" y="640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BRISMAR APP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560320" cy="6400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6002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el Registro y Gestión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Capturas Pesqueras con Exportación de Datos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Fase · Avance del Proyecto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200400"/>
            <a:ext cx="5669280" cy="1463040"/>
          </a:xfrm>
          <a:prstGeom prst="rect">
            <a:avLst/>
          </a:prstGeom>
          <a:solidFill>
            <a:srgbClr val="0B2D5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246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35204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Gamarra Sánchez, Jhonatan   ·   Gonzales López, Jean   ·   Huilla Rosillo, Jesús   ·   Santisteban Coico, Rodrigo   ·   Suyón Damián, Riccy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0" y="47548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Mg. Ing. Janett A. Gonzales Flores  |  Chiclayo, Marzo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central de la solución tecnológica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8138160" cy="2240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2801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solución móvil para NEGOCIOS BRISMAR S.R.L. que digitalice el registro y control de las capturas pesqueras durante el proceso de embarque, transformando los datos operativos en información estratégica para la toma de decisiones, garantizando la trazabilidad integral del producto y optimizando la competitividad en su expansión comercial.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2560320" cy="1097280"/>
          </a:xfrm>
          <a:prstGeom prst="rect">
            <a:avLst/>
          </a:prstGeom>
          <a:solidFill>
            <a:srgbClr val="E8F5F2"/>
          </a:solidFill>
          <a:ln w="19050">
            <a:solidFill>
              <a:srgbClr val="14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657600"/>
            <a:ext cx="2560320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8770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registros manuales en Excel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657600"/>
            <a:ext cx="2560320" cy="1097280"/>
          </a:xfrm>
          <a:prstGeom prst="rect">
            <a:avLst/>
          </a:prstGeom>
          <a:solidFill>
            <a:srgbClr val="E8F5F2"/>
          </a:solidFill>
          <a:ln w="19050">
            <a:solidFill>
              <a:srgbClr val="14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3657600"/>
            <a:ext cx="2560320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8770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ISO 22000 / ISO 22005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657600"/>
            <a:ext cx="2560320" cy="1097280"/>
          </a:xfrm>
          <a:prstGeom prst="rect">
            <a:avLst/>
          </a:prstGeom>
          <a:solidFill>
            <a:srgbClr val="E8F5F2"/>
          </a:solidFill>
          <a:ln w="19050">
            <a:solidFill>
              <a:srgbClr val="14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3657600"/>
            <a:ext cx="2560320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38770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 mercados internacionales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medibles del proyecto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4114800" cy="777240"/>
          </a:xfrm>
          <a:prstGeom prst="rect">
            <a:avLst/>
          </a:prstGeom>
          <a:solidFill>
            <a:srgbClr val="E8F5F2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972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972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2688" y="11338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en 50% el tiempo de registro de capturas y gastos operativos en el 1er trimestre.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114800" cy="777240"/>
          </a:xfrm>
          <a:prstGeom prst="rect">
            <a:avLst/>
          </a:prstGeom>
          <a:solidFill>
            <a:srgbClr val="F0FAF8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116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116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32688" y="20482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pérdida de información por debajo del 2% en los registros de pesca.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777240"/>
          </a:xfrm>
          <a:prstGeom prst="rect">
            <a:avLst/>
          </a:prstGeom>
          <a:solidFill>
            <a:srgbClr val="E8F5F2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260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32688" y="29626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Disminuir en 80% los errores en cálculos financieros (ingresos, egresos, utilidad neta).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114800" cy="777240"/>
          </a:xfrm>
          <a:prstGeom prst="rect">
            <a:avLst/>
          </a:prstGeom>
          <a:solidFill>
            <a:srgbClr val="F0FAF8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8404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2688" y="38770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en 70% el tiempo de generación de reportes PDF en el 1er mes de implementación.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97280"/>
            <a:ext cx="4114800" cy="777240"/>
          </a:xfrm>
          <a:prstGeom prst="rect">
            <a:avLst/>
          </a:prstGeom>
          <a:solidFill>
            <a:srgbClr val="E8F5F2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972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10972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76088" y="11338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que el 98% de las transacciones críticas cuenten con historial de auditoría.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114800" cy="777240"/>
          </a:xfrm>
          <a:prstGeom prst="rect">
            <a:avLst/>
          </a:prstGeom>
          <a:solidFill>
            <a:srgbClr val="F0FAF8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0116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0116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76088" y="20482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Alcanzar el 90% de adopción digital frente a métodos manuales en el 1er trimestre.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926080"/>
            <a:ext cx="4114800" cy="777240"/>
          </a:xfrm>
          <a:prstGeom prst="rect">
            <a:avLst/>
          </a:prstGeom>
          <a:solidFill>
            <a:srgbClr val="E8F5F2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9260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29260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76088" y="29626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errores en gastos operativos en 70% mediante validaciones del sistema.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840480"/>
            <a:ext cx="4114800" cy="777240"/>
          </a:xfrm>
          <a:prstGeom prst="rect">
            <a:avLst/>
          </a:prstGeom>
          <a:solidFill>
            <a:srgbClr val="F0FAF8"/>
          </a:solidFill>
          <a:ln w="1270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8404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3840480"/>
            <a:ext cx="46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OE-08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76088" y="3877056"/>
            <a:ext cx="34930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&gt;95% de tasa de sincronización exitosa offline→nube en el 1er trimestre.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 (KPIs)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éxito del proyecto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40080" y="1984248"/>
            <a:ext cx="2103120" cy="18288"/>
          </a:xfrm>
          <a:prstGeom prst="rect">
            <a:avLst/>
          </a:prstGeom>
          <a:solidFill>
            <a:srgbClr val="D0EAE5"/>
          </a:solidFill>
          <a:ln w="12700">
            <a:solidFill>
              <a:srgbClr val="D0E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Digital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usando la app vs. papel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2527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3474720" y="1984248"/>
            <a:ext cx="2103120" cy="18288"/>
          </a:xfrm>
          <a:prstGeom prst="rect">
            <a:avLst/>
          </a:prstGeom>
          <a:solidFill>
            <a:srgbClr val="D0EAE5"/>
          </a:solidFill>
          <a:ln w="12700">
            <a:solidFill>
              <a:srgbClr val="D0E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offline sincronizados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14300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143000"/>
            <a:ext cx="26517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2527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98%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6309360" y="1984248"/>
            <a:ext cx="2103120" cy="18288"/>
          </a:xfrm>
          <a:prstGeom prst="rect">
            <a:avLst/>
          </a:prstGeom>
          <a:solidFill>
            <a:srgbClr val="D0EAE5"/>
          </a:solidFill>
          <a:ln w="12700">
            <a:solidFill>
              <a:srgbClr val="D0E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con auditoría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71800"/>
            <a:ext cx="26517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815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2%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640080" y="3813048"/>
            <a:ext cx="2103120" cy="18288"/>
          </a:xfrm>
          <a:prstGeom prst="rect">
            <a:avLst/>
          </a:prstGeom>
          <a:solidFill>
            <a:srgbClr val="D0EAE5"/>
          </a:solidFill>
          <a:ln w="12700">
            <a:solidFill>
              <a:srgbClr val="D0E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58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Datos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en registros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297180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971800"/>
            <a:ext cx="26517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0815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3474720" y="3813048"/>
            <a:ext cx="2103120" cy="18288"/>
          </a:xfrm>
          <a:prstGeom prst="rect">
            <a:avLst/>
          </a:prstGeom>
          <a:solidFill>
            <a:srgbClr val="D0EAE5"/>
          </a:solidFill>
          <a:ln w="12700">
            <a:solidFill>
              <a:srgbClr val="D0E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858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Financieros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4206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Respecto a gestión manual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297180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2971800"/>
            <a:ext cx="26517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0815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−70%</a:t>
            </a:r>
            <a:endParaRPr lang="en-US" sz="3400" dirty="0"/>
          </a:p>
        </p:txBody>
      </p:sp>
      <p:sp>
        <p:nvSpPr>
          <p:cNvPr id="41" name="Shape 39"/>
          <p:cNvSpPr/>
          <p:nvPr/>
        </p:nvSpPr>
        <p:spPr>
          <a:xfrm>
            <a:off x="6309360" y="3813048"/>
            <a:ext cx="2103120" cy="18288"/>
          </a:xfrm>
          <a:prstGeom prst="rect">
            <a:avLst/>
          </a:prstGeom>
          <a:solidFill>
            <a:srgbClr val="D0EAE5"/>
          </a:solidFill>
          <a:ln w="12700">
            <a:solidFill>
              <a:srgbClr val="D0EA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858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Reportes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26480" y="4206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Riesgos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ISO 31000 | Tres categorías de riesgo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269748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97280"/>
            <a:ext cx="2697480" cy="3657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(RT)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109728" cy="2560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7218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RT-01 Conflictos de sincronización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109728" cy="2560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56816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RT-02 Pérdida por fallo del dispositivo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109728" cy="2560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41448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RT-03 Degradación con alto volumen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109728" cy="2560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2608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RT-04 Incompatibilidad de versiones 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47288"/>
            <a:ext cx="109728" cy="2560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107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RT-05 Fallo del servidor en operación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09728" cy="2560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9534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RT-06 Token JWT en terminal compartido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82112" y="1097280"/>
            <a:ext cx="269748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1097280"/>
            <a:ext cx="2697480" cy="365760"/>
          </a:xfrm>
          <a:prstGeom prst="rect">
            <a:avLst/>
          </a:prstGeom>
          <a:solidFill>
            <a:srgbClr val="C0701A"/>
          </a:solidFill>
          <a:ln w="12700">
            <a:solidFill>
              <a:srgbClr val="C07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 (RO)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1508760"/>
            <a:ext cx="109728" cy="256032"/>
          </a:xfrm>
          <a:prstGeom prst="rect">
            <a:avLst/>
          </a:prstGeom>
          <a:solidFill>
            <a:srgbClr val="C0701A"/>
          </a:solidFill>
          <a:ln w="12700">
            <a:solidFill>
              <a:srgbClr val="C070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47218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RO-01 Resistencia al cambio del personal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1993392"/>
            <a:ext cx="109728" cy="256032"/>
          </a:xfrm>
          <a:prstGeom prst="rect">
            <a:avLst/>
          </a:prstGeom>
          <a:solidFill>
            <a:srgbClr val="C0701A"/>
          </a:solidFill>
          <a:ln w="12700">
            <a:solidFill>
              <a:srgbClr val="C07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956816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RO-02 Error humano en ingreso de datos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2478024"/>
            <a:ext cx="109728" cy="256032"/>
          </a:xfrm>
          <a:prstGeom prst="rect">
            <a:avLst/>
          </a:prstGeom>
          <a:solidFill>
            <a:srgbClr val="C0701A"/>
          </a:solidFill>
          <a:ln w="12700">
            <a:solidFill>
              <a:srgbClr val="C07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441448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RO-03 Dispositivo sin carga en bahía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2962656"/>
            <a:ext cx="109728" cy="256032"/>
          </a:xfrm>
          <a:prstGeom prst="rect">
            <a:avLst/>
          </a:prstGeom>
          <a:solidFill>
            <a:srgbClr val="C0701A"/>
          </a:solidFill>
          <a:ln w="12700">
            <a:solidFill>
              <a:srgbClr val="C070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92608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RO-04 Falta de conectividad prolongada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16752" y="1097280"/>
            <a:ext cx="2697480" cy="1819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1097280"/>
            <a:ext cx="269748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(RS)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26480" y="1508760"/>
            <a:ext cx="10972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47218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RS-01 Acceso no autorizado a la API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1993392"/>
            <a:ext cx="10972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956816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RS-02 Dispositivo Android robado/perdido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2478024"/>
            <a:ext cx="10972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441448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RS-03 Inyección de datos maliciosos vía sync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Cuantitativa de Riesgos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PMBOK · Valor de Riesgo = Probabilidad × Impacto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794760"/>
        </p:xfrm>
        <a:graphic>
          <a:graphicData uri="http://schemas.openxmlformats.org/drawingml/2006/table">
            <a:tbl>
              <a:tblPr/>
              <a:tblGrid>
                <a:gridCol w="685800"/>
                <a:gridCol w="2651760"/>
                <a:gridCol w="548640"/>
                <a:gridCol w="548640"/>
                <a:gridCol w="594360"/>
                <a:gridCol w="822960"/>
              </a:tblGrid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Conflictos de sincronización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de datos – fallo dispositivo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Degradación alto volumen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Incompatibilidad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 del servidor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C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JWT expuesto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Resistencia al cambio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humano en datos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 sin carga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de conectividad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C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no autorizado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 perdido/robado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C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2710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Inyección datos maliciosos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C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de Riesgos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Probabilidad × Impacto (PMBOK)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37360" y="1097280"/>
            <a:ext cx="1389888" cy="749808"/>
          </a:xfrm>
          <a:prstGeom prst="rect">
            <a:avLst/>
          </a:prstGeom>
          <a:solidFill>
            <a:srgbClr val="FFF17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1097280"/>
            <a:ext cx="1389888" cy="749808"/>
          </a:xfrm>
          <a:prstGeom prst="rect">
            <a:avLst/>
          </a:prstGeom>
          <a:solidFill>
            <a:srgbClr val="FFF17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097280"/>
            <a:ext cx="1389888" cy="749808"/>
          </a:xfrm>
          <a:prstGeom prst="rect">
            <a:avLst/>
          </a:prstGeom>
          <a:solidFill>
            <a:srgbClr val="FF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1097280"/>
            <a:ext cx="1389888" cy="749808"/>
          </a:xfrm>
          <a:prstGeom prst="rect">
            <a:avLst/>
          </a:prstGeom>
          <a:solidFill>
            <a:srgbClr val="FF8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1097280"/>
            <a:ext cx="1389888" cy="749808"/>
          </a:xfrm>
          <a:prstGeom prst="rect">
            <a:avLst/>
          </a:prstGeom>
          <a:solidFill>
            <a:srgbClr val="FF4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1847088"/>
            <a:ext cx="1389888" cy="749808"/>
          </a:xfrm>
          <a:prstGeom prst="rect">
            <a:avLst/>
          </a:prstGeom>
          <a:solidFill>
            <a:srgbClr val="FFF17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847088"/>
            <a:ext cx="1389888" cy="749808"/>
          </a:xfrm>
          <a:prstGeom prst="rect">
            <a:avLst/>
          </a:prstGeom>
          <a:solidFill>
            <a:srgbClr val="FF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847088"/>
            <a:ext cx="1389888" cy="749808"/>
          </a:xfrm>
          <a:prstGeom prst="rect">
            <a:avLst/>
          </a:prstGeom>
          <a:solidFill>
            <a:srgbClr val="FF8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7024" y="1847088"/>
            <a:ext cx="1389888" cy="749808"/>
          </a:xfrm>
          <a:prstGeom prst="rect">
            <a:avLst/>
          </a:prstGeom>
          <a:solidFill>
            <a:srgbClr val="FF4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847088"/>
            <a:ext cx="1389888" cy="749808"/>
          </a:xfrm>
          <a:prstGeom prst="rect">
            <a:avLst/>
          </a:prstGeom>
          <a:solidFill>
            <a:srgbClr val="FF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2596896"/>
            <a:ext cx="1389888" cy="749808"/>
          </a:xfrm>
          <a:prstGeom prst="rect">
            <a:avLst/>
          </a:prstGeom>
          <a:solidFill>
            <a:srgbClr val="90EE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2596896"/>
            <a:ext cx="1389888" cy="749808"/>
          </a:xfrm>
          <a:prstGeom prst="rect">
            <a:avLst/>
          </a:prstGeom>
          <a:solidFill>
            <a:srgbClr val="FF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7136" y="2596896"/>
            <a:ext cx="1389888" cy="749808"/>
          </a:xfrm>
          <a:prstGeom prst="rect">
            <a:avLst/>
          </a:prstGeom>
          <a:solidFill>
            <a:srgbClr val="FF8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596896"/>
            <a:ext cx="1389888" cy="749808"/>
          </a:xfrm>
          <a:prstGeom prst="rect">
            <a:avLst/>
          </a:prstGeom>
          <a:solidFill>
            <a:srgbClr val="FF4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2596896"/>
            <a:ext cx="1389888" cy="749808"/>
          </a:xfrm>
          <a:prstGeom prst="rect">
            <a:avLst/>
          </a:prstGeom>
          <a:solidFill>
            <a:srgbClr val="FF4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3346704"/>
            <a:ext cx="1389888" cy="749808"/>
          </a:xfrm>
          <a:prstGeom prst="rect">
            <a:avLst/>
          </a:prstGeom>
          <a:solidFill>
            <a:srgbClr val="90EE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27248" y="3346704"/>
            <a:ext cx="1389888" cy="749808"/>
          </a:xfrm>
          <a:prstGeom prst="rect">
            <a:avLst/>
          </a:prstGeom>
          <a:solidFill>
            <a:srgbClr val="90EE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3346704"/>
            <a:ext cx="1389888" cy="749808"/>
          </a:xfrm>
          <a:prstGeom prst="rect">
            <a:avLst/>
          </a:prstGeom>
          <a:solidFill>
            <a:srgbClr val="FF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7024" y="3346704"/>
            <a:ext cx="1389888" cy="749808"/>
          </a:xfrm>
          <a:prstGeom prst="rect">
            <a:avLst/>
          </a:prstGeom>
          <a:solidFill>
            <a:srgbClr val="FF8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3346704"/>
            <a:ext cx="1389888" cy="749808"/>
          </a:xfrm>
          <a:prstGeom prst="rect">
            <a:avLst/>
          </a:prstGeom>
          <a:solidFill>
            <a:srgbClr val="FF4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4096512"/>
            <a:ext cx="1389888" cy="749808"/>
          </a:xfrm>
          <a:prstGeom prst="rect">
            <a:avLst/>
          </a:prstGeom>
          <a:solidFill>
            <a:srgbClr val="90EE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27248" y="4096512"/>
            <a:ext cx="1389888" cy="749808"/>
          </a:xfrm>
          <a:prstGeom prst="rect">
            <a:avLst/>
          </a:prstGeom>
          <a:solidFill>
            <a:srgbClr val="90EE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17136" y="4096512"/>
            <a:ext cx="1389888" cy="749808"/>
          </a:xfrm>
          <a:prstGeom prst="rect">
            <a:avLst/>
          </a:prstGeom>
          <a:solidFill>
            <a:srgbClr val="90EE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07024" y="4096512"/>
            <a:ext cx="1389888" cy="749808"/>
          </a:xfrm>
          <a:prstGeom prst="rect">
            <a:avLst/>
          </a:prstGeom>
          <a:solidFill>
            <a:srgbClr val="FF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6912" y="4096512"/>
            <a:ext cx="1389888" cy="749808"/>
          </a:xfrm>
          <a:prstGeom prst="rect">
            <a:avLst/>
          </a:prstGeom>
          <a:solidFill>
            <a:srgbClr val="FF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52744" y="189280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62856" y="189280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42632" y="2642616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52744" y="2642616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62856" y="2642616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RT-06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72968" y="2642616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RO-04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342632" y="3392424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RS-01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952744" y="3392424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RS-02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62856" y="3392424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RT-05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RS-03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01168" y="1097280"/>
            <a:ext cx="1481328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" y="1097280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Seguro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0.9–1.0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" y="1847088"/>
            <a:ext cx="1481328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" y="1847088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0.7–0.8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" y="2596896"/>
            <a:ext cx="1481328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" y="2596896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0.5–0.6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01168" y="3346704"/>
            <a:ext cx="1481328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9456" y="3346704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Improbable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0.3–0.4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01168" y="4096512"/>
            <a:ext cx="1481328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" y="409651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737360" y="4663440"/>
            <a:ext cx="138988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0" y="46634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Insignificante 0.1–0.2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127248" y="4663440"/>
            <a:ext cx="138988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27248" y="46634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0.3–0.4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517136" y="4663440"/>
            <a:ext cx="138988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17136" y="46634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0.5–0.6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07024" y="4663440"/>
            <a:ext cx="138988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07024" y="46634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0.7–0.8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296912" y="4663440"/>
            <a:ext cx="138988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6912" y="46634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Catastrófico 0.9–1.0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 rot="16200000">
            <a:off x="36576" y="1371600"/>
            <a:ext cx="182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→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200400" y="495604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→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" y="1005840"/>
            <a:ext cx="201168" cy="16459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" y="987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86000" y="1005840"/>
            <a:ext cx="201168" cy="16459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23744" y="987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43400" y="1005840"/>
            <a:ext cx="201168" cy="164592"/>
          </a:xfrm>
          <a:prstGeom prst="rect">
            <a:avLst/>
          </a:prstGeom>
          <a:solidFill>
            <a:srgbClr val="FFCC02"/>
          </a:solidFill>
          <a:ln w="12700">
            <a:solidFill>
              <a:srgbClr val="FFCC0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81144" y="987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00800" y="1005840"/>
            <a:ext cx="201168" cy="164592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38544" y="987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Riesgo Crítico: RO-01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 del personal de bahía · VR = 0.64 (CRÍTICO)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solidFill>
            <a:srgbClr val="FEF0E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0116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CRÍTICO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acostumbrado a registros en papel puede resistirse al uso de la aplicación móvil, reduciendo la adopción digital y comprometiendo la integridad de los datos capturados.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48840"/>
            <a:ext cx="269748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48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54203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 arraigado de trabajo manual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072384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confianza en tecnología nueva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36027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en dispositivos móviles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413308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 a error y registro incorrecto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21488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2148840"/>
            <a:ext cx="26974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148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Mitigación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254203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simple: pocos pasos para registrar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4408" y="3072384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presencial con sesiones prácticas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64408" y="36027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de operador senior primer 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64408" y="413308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grandes para uso en movimiento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21488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2148840"/>
            <a:ext cx="269748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148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Contingencia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9048" y="254203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papel como respaldo (30 días)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3072384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posterior al sistema por admin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36027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semanal de adopción (KPI ≥90%)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9048" y="413308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UI según feedback de campo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y Contingencia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los riesgos identificados (ISO 31000 + PMBOK)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691640"/>
                <a:gridCol w="3337560"/>
                <a:gridCol w="2880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Mitigación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Contingencia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Conflictos de sync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en sync_logs + bloqueo optimista updated_at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revisa audit_logs para corrección manual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datos offline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ACID + backup automático BD local periódico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pre-sync se pierden; reingreso manual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Incompatibilidad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Versionado /api/v1/ + soporte 2 versiones previas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Forzar actualización vía endpoint /auth/me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Resistencia al cambio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simple + capacitación presencial + soporte senior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en papel como respaldo 30 días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humano datos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Validaciones min/max + confirmación previa + preview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edita con trazabilidad en audit_logs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no autorizado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token Sanctum + rate limit + HTTPS obligatorio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revoca tokens tabla personal_access_tokens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 robado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FlutterSecureStorage Keystore + timeout 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revoca token; SQLCipher en versión futura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Arquitectura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capas: Presentación · Lógica de Negocio · Datos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272491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789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 (Frontend)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1664208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62763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– Framework multiplataforma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231136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1945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– Manejo de estados reactivos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2798064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7614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– Navegación declarativa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3364992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3284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FlutterSecureStorage – Seguridad tokens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" y="3931920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8953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– Almacenamiento local offline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1078992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1078992"/>
            <a:ext cx="2724912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0789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Lógica (Backend)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82696" y="1664208"/>
            <a:ext cx="128016" cy="12801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162763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(PHP) – API REST de alto rendimiento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82696" y="2231136"/>
            <a:ext cx="128016" cy="12801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21945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– Autenticación tokens revocables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82696" y="2798064"/>
            <a:ext cx="128016" cy="12801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5576" y="27614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Spatie Permission – Gestión de roles (Admin / Supervisor / Operador)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82696" y="3364992"/>
            <a:ext cx="128016" cy="12801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33284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auditoría automática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82696" y="3931920"/>
            <a:ext cx="128016" cy="12801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38953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HTTPS obligatorio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25896" y="1078992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25896" y="1078992"/>
            <a:ext cx="2724912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17336" y="10789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35624" y="1664208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162763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– BD central en la nube (Supabase)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35624" y="223113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21945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– BD local en cada dispositivo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35624" y="2798064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27614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sincronización offline→nube (batches)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35624" y="336499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8504" y="33284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 generados en el dispositivo (sin duplicados)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35624" y="3931920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8504" y="38953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archivado: datos &gt;30 días migran al servidor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– Scrum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de 2 semanas | Estado actual: Sprint 4 en curso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4983480"/>
            <a:ext cx="8979408" cy="160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| Innovación y Transformación Digital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205740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97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6968" y="1097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&amp; Seguridad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6968" y="1444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184708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login Flutter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505456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Supabase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31638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JWT/Sanctum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FlutterSecureStorage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96312" y="109728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1097280"/>
            <a:ext cx="205740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097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063240" y="1097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Offline-First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63240" y="1444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06040" y="184708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capturas SQLite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2505456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embarcaciones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06040" y="31638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campos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06040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72584" y="109728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72584" y="1097280"/>
            <a:ext cx="205740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097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39512" y="1097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Egresos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39512" y="1444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82312" y="184708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sync SQLite→PostgreSQL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82312" y="2505456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conflictos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82312" y="31638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gastos operativos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82312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en segundo plano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48856" y="109728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48856" y="1097280"/>
            <a:ext cx="205740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0296" y="1097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15784" y="10972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&amp; Docs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15784" y="1444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58584" y="184708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neta automática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58584" y="2505456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PDF Flutter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58584" y="31638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filtros fecha/embarcación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58584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integración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736592"/>
            <a:ext cx="8503920" cy="1828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736592"/>
            <a:ext cx="6400800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del proyecto: ~75%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0A2342">
              <a:alpha val="70000"/>
            </a:srgbClr>
          </a:solidFill>
          <a:ln w="12700">
            <a:solidFill>
              <a:srgbClr val="0A2342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743200" cy="54864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475488" cy="475488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98755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Offline-First es la solución correcta para operar en puertos con conectividad intermitente, garantizando continuidad operativa.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75488" cy="475488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94767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riesgo CRÍTICO es la resistencia al cambio del personal (VR=0.64). La capacitación presencial y el soporte inicial son la mitigación clave.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75488" cy="475488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90779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KPIs definidos (≥95% sync, ≥90% adopción, ≤2% pérdida de datos) establecen una línea base medible para la evaluación del proyecto.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475488" cy="475488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386791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stack Flutter + Laravel + PostgreSQL ofrece el equilibrio óptimo entre funcionalidad, seguridad y escalabilidad para la expansión exportadora.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BRISMAR S.R.L. · Innovación y Transformación Digital · Chiclayo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BRISMAR APP - Segunda Fase</dc:title>
  <dc:subject>PptxGenJS Presentation</dc:subject>
  <dc:creator>PptxGenJS</dc:creator>
  <cp:lastModifiedBy>PptxGenJS</cp:lastModifiedBy>
  <cp:revision>1</cp:revision>
  <dcterms:created xsi:type="dcterms:W3CDTF">2026-05-26T23:15:39Z</dcterms:created>
  <dcterms:modified xsi:type="dcterms:W3CDTF">2026-05-26T23:15:39Z</dcterms:modified>
</cp:coreProperties>
</file>